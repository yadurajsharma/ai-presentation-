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Inter Light"/>
      <p:regular r:id="rId18"/>
      <p:bold r:id="rId19"/>
      <p:italic r:id="rId20"/>
      <p:boldItalic r:id="rId21"/>
    </p:embeddedFont>
    <p:embeddedFont>
      <p:font typeface="Inter SemiBold"/>
      <p:regular r:id="rId22"/>
      <p:bold r:id="rId23"/>
      <p:italic r:id="rId24"/>
      <p:boldItalic r:id="rId25"/>
    </p:embeddedFont>
    <p:embeddedFont>
      <p:font typeface="Inter"/>
      <p:regular r:id="rId26"/>
      <p:bold r:id="rId27"/>
      <p:italic r:id="rId28"/>
      <p:boldItalic r:id="rId29"/>
    </p:embeddedFont>
    <p:embeddedFont>
      <p:font typeface="Orbitron SemiBold"/>
      <p:regular r:id="rId30"/>
      <p:bold r:id="rId31"/>
    </p:embeddedFont>
    <p:embeddedFont>
      <p:font typeface="Orbitron"/>
      <p:regular r:id="rId32"/>
      <p:bold r:id="rId33"/>
    </p:embeddedFont>
    <p:embeddedFont>
      <p:font typeface="Orbitron Black"/>
      <p:bold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5" roundtripDataSignature="AMtx7mgyQPcQesowY/dV3vb+eDyI9MbL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8239976-4E17-4E09-BB92-AD7B213DDFC6}">
  <a:tblStyle styleId="{F8239976-4E17-4E09-BB92-AD7B213DDFC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Light-italic.fntdata"/><Relationship Id="rId22" Type="http://schemas.openxmlformats.org/officeDocument/2006/relationships/font" Target="fonts/InterSemiBold-regular.fntdata"/><Relationship Id="rId21" Type="http://schemas.openxmlformats.org/officeDocument/2006/relationships/font" Target="fonts/InterLight-boldItalic.fntdata"/><Relationship Id="rId24" Type="http://schemas.openxmlformats.org/officeDocument/2006/relationships/font" Target="fonts/InterSemiBold-italic.fntdata"/><Relationship Id="rId23" Type="http://schemas.openxmlformats.org/officeDocument/2006/relationships/font" Target="fonts/Inter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regular.fntdata"/><Relationship Id="rId25" Type="http://schemas.openxmlformats.org/officeDocument/2006/relationships/font" Target="fonts/InterSemiBold-boldItalic.fntdata"/><Relationship Id="rId28" Type="http://schemas.openxmlformats.org/officeDocument/2006/relationships/font" Target="fonts/Inter-italic.fntdata"/><Relationship Id="rId27" Type="http://schemas.openxmlformats.org/officeDocument/2006/relationships/font" Target="fonts/Inter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rbitronSemiBold-bold.fntdata"/><Relationship Id="rId30" Type="http://schemas.openxmlformats.org/officeDocument/2006/relationships/font" Target="fonts/OrbitronSemiBold-regular.fntdata"/><Relationship Id="rId11" Type="http://schemas.openxmlformats.org/officeDocument/2006/relationships/slide" Target="slides/slide5.xml"/><Relationship Id="rId33" Type="http://schemas.openxmlformats.org/officeDocument/2006/relationships/font" Target="fonts/Orbitron-bold.fntdata"/><Relationship Id="rId10" Type="http://schemas.openxmlformats.org/officeDocument/2006/relationships/slide" Target="slides/slide4.xml"/><Relationship Id="rId32" Type="http://schemas.openxmlformats.org/officeDocument/2006/relationships/font" Target="fonts/Orbitron-regular.fntdata"/><Relationship Id="rId13" Type="http://schemas.openxmlformats.org/officeDocument/2006/relationships/slide" Target="slides/slide7.xml"/><Relationship Id="rId35" Type="http://customschemas.google.com/relationships/presentationmetadata" Target="metadata"/><Relationship Id="rId12" Type="http://schemas.openxmlformats.org/officeDocument/2006/relationships/slide" Target="slides/slide6.xml"/><Relationship Id="rId34" Type="http://schemas.openxmlformats.org/officeDocument/2006/relationships/font" Target="fonts/OrbitronBlack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InterLight-bold.fntdata"/><Relationship Id="rId18" Type="http://schemas.openxmlformats.org/officeDocument/2006/relationships/font" Target="fonts/InterLigh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23.png"/><Relationship Id="rId5" Type="http://schemas.openxmlformats.org/officeDocument/2006/relationships/image" Target="../media/image2.png"/><Relationship Id="rId6" Type="http://schemas.openxmlformats.org/officeDocument/2006/relationships/image" Target="../media/image24.png"/><Relationship Id="rId7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3.png"/><Relationship Id="rId10" Type="http://schemas.openxmlformats.org/officeDocument/2006/relationships/image" Target="../media/image8.png"/><Relationship Id="rId13" Type="http://schemas.openxmlformats.org/officeDocument/2006/relationships/image" Target="../media/image10.png"/><Relationship Id="rId1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9" Type="http://schemas.openxmlformats.org/officeDocument/2006/relationships/image" Target="../media/image9.png"/><Relationship Id="rId14" Type="http://schemas.openxmlformats.org/officeDocument/2006/relationships/image" Target="../media/image16.png"/><Relationship Id="rId5" Type="http://schemas.openxmlformats.org/officeDocument/2006/relationships/image" Target="../media/image6.png"/><Relationship Id="rId6" Type="http://schemas.openxmlformats.org/officeDocument/2006/relationships/image" Target="../media/image26.png"/><Relationship Id="rId7" Type="http://schemas.openxmlformats.org/officeDocument/2006/relationships/image" Target="../media/image31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0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35.png"/><Relationship Id="rId9" Type="http://schemas.openxmlformats.org/officeDocument/2006/relationships/image" Target="../media/image30.png"/><Relationship Id="rId5" Type="http://schemas.openxmlformats.org/officeDocument/2006/relationships/image" Target="../media/image14.png"/><Relationship Id="rId6" Type="http://schemas.openxmlformats.org/officeDocument/2006/relationships/image" Target="../media/image19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3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3.png"/><Relationship Id="rId7" Type="http://schemas.openxmlformats.org/officeDocument/2006/relationships/image" Target="../media/image38.png"/><Relationship Id="rId8" Type="http://schemas.openxmlformats.org/officeDocument/2006/relationships/image" Target="../media/image3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40.png"/><Relationship Id="rId5" Type="http://schemas.openxmlformats.org/officeDocument/2006/relationships/image" Target="../media/image3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9.png"/><Relationship Id="rId4" Type="http://schemas.openxmlformats.org/officeDocument/2006/relationships/image" Target="../media/image3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Relationship Id="rId6" Type="http://schemas.openxmlformats.org/officeDocument/2006/relationships/image" Target="../media/image41.png"/><Relationship Id="rId7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1338" y="2014537"/>
            <a:ext cx="362902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1338300" y="2586025"/>
            <a:ext cx="9515400" cy="13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1F5F9"/>
                </a:solidFill>
                <a:latin typeface="Orbitron Black"/>
                <a:ea typeface="Orbitron Black"/>
                <a:cs typeface="Orbitron Black"/>
                <a:sym typeface="Orbitron Black"/>
              </a:rPr>
              <a:t>NEXT GENERATION MOBILE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3900" u="none" cap="none" strike="noStrike">
                <a:solidFill>
                  <a:srgbClr val="F1F5F9"/>
                </a:solidFill>
                <a:latin typeface="Orbitron Black"/>
                <a:ea typeface="Orbitron Black"/>
                <a:cs typeface="Orbitron Black"/>
                <a:sym typeface="Orbitron Black"/>
              </a:rPr>
              <a:t> HARDWARE &amp; SOFTWARE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2065287" y="4014787"/>
            <a:ext cx="80612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The Future of Smartphones and Intelligent Mobile Computing Systems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2989362" y="4666425"/>
            <a:ext cx="62133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First-Year B.Tech IT  </a:t>
            </a:r>
            <a:endParaRPr/>
          </a:p>
        </p:txBody>
      </p:sp>
      <p:pic>
        <p:nvPicPr>
          <p:cNvPr descr="image.png" id="89" name="Google Shape;89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81363" y="2119312"/>
            <a:ext cx="152400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974056"/>
            <a:ext cx="5348287" cy="37290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2687" y="1974056"/>
            <a:ext cx="5348287" cy="3729037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"/>
          <p:cNvSpPr txBox="1"/>
          <p:nvPr/>
        </p:nvSpPr>
        <p:spPr>
          <a:xfrm>
            <a:off x="1254174" y="2316956"/>
            <a:ext cx="4548849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The Smartphone Journey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923925" y="2745581"/>
            <a:ext cx="4662487" cy="776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Smartphones transitioned from basic communication handsets into </a:t>
            </a:r>
            <a:r>
              <a:rPr b="0" i="0" lang="en-US" sz="1275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pocket-sized supercomputers</a:t>
            </a: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capable of handling gigabytes of real-time data.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6935837" y="2316956"/>
            <a:ext cx="4548849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Next-Gen Tech Defined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6605587" y="2745581"/>
            <a:ext cx="4662487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Next-generation mobile tech combines micro-level hardware engineering with </a:t>
            </a:r>
            <a:r>
              <a:rPr b="0" i="0" lang="en-US" sz="1275" u="none" cap="none" strike="noStrike">
                <a:solidFill>
                  <a:srgbClr val="C084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intelligent software stacks</a:t>
            </a: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descr="image.png" id="101" name="Google Shape;101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3925" y="2340768"/>
            <a:ext cx="215949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"/>
          <p:cNvSpPr txBox="1"/>
          <p:nvPr/>
        </p:nvSpPr>
        <p:spPr>
          <a:xfrm>
            <a:off x="1152525" y="3665339"/>
            <a:ext cx="4433887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1G &amp; 2G Era:</a:t>
            </a: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Voice calls and basic text messaging.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1152525" y="4057650"/>
            <a:ext cx="4433887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3G &amp; 4G Era:</a:t>
            </a: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Mobile internet, video streaming, and app ecosystems.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1152525" y="4708921"/>
            <a:ext cx="4433887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5G &amp; Beyond:</a:t>
            </a: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AI workloads, low latency, edge processing.</a:t>
            </a:r>
            <a:endParaRPr/>
          </a:p>
        </p:txBody>
      </p:sp>
      <p:pic>
        <p:nvPicPr>
          <p:cNvPr descr="image.png" id="105" name="Google Shape;105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05587" y="2340768"/>
            <a:ext cx="215949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"/>
          <p:cNvSpPr txBox="1"/>
          <p:nvPr/>
        </p:nvSpPr>
        <p:spPr>
          <a:xfrm>
            <a:off x="6834187" y="3406378"/>
            <a:ext cx="4433887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Hardware Acceleration:</a:t>
            </a: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On-device Neural Processing Units (NPUs).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6834187" y="4057650"/>
            <a:ext cx="4433887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Contextual OS:</a:t>
            </a: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Generative AI replacing traditional app menus.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6834187" y="4708921"/>
            <a:ext cx="4433887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Seamless Convergence:</a:t>
            </a: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Inter-device sync across IoT &amp; wearables.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923925" y="3665339"/>
            <a:ext cx="762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818CF8"/>
                </a:solidFill>
                <a:latin typeface="Orbitron"/>
                <a:ea typeface="Orbitron"/>
                <a:cs typeface="Orbitron"/>
                <a:sym typeface="Orbitron"/>
              </a:rPr>
              <a:t>&gt;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923925" y="4057650"/>
            <a:ext cx="762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818CF8"/>
                </a:solidFill>
                <a:latin typeface="Orbitron"/>
                <a:ea typeface="Orbitron"/>
                <a:cs typeface="Orbitron"/>
                <a:sym typeface="Orbitron"/>
              </a:rPr>
              <a:t>&gt;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923925" y="4708921"/>
            <a:ext cx="762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818CF8"/>
                </a:solidFill>
                <a:latin typeface="Orbitron"/>
                <a:ea typeface="Orbitron"/>
                <a:cs typeface="Orbitron"/>
                <a:sym typeface="Orbitron"/>
              </a:rPr>
              <a:t>&gt;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6605587" y="3406378"/>
            <a:ext cx="762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818CF8"/>
                </a:solidFill>
                <a:latin typeface="Orbitron"/>
                <a:ea typeface="Orbitron"/>
                <a:cs typeface="Orbitron"/>
                <a:sym typeface="Orbitron"/>
              </a:rPr>
              <a:t>&gt;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6605587" y="4057650"/>
            <a:ext cx="762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818CF8"/>
                </a:solidFill>
                <a:latin typeface="Orbitron"/>
                <a:ea typeface="Orbitron"/>
                <a:cs typeface="Orbitron"/>
                <a:sym typeface="Orbitron"/>
              </a:rPr>
              <a:t>&gt;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6605587" y="4708921"/>
            <a:ext cx="762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818CF8"/>
                </a:solidFill>
                <a:latin typeface="Orbitron"/>
                <a:ea typeface="Orbitron"/>
                <a:cs typeface="Orbitron"/>
                <a:sym typeface="Orbitron"/>
              </a:rPr>
              <a:t>&gt;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581025" y="485775"/>
            <a:ext cx="11581447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EVOLUTION OF MOBILE TECHNOLOGY</a:t>
            </a:r>
            <a:endParaRPr/>
          </a:p>
        </p:txBody>
      </p:sp>
      <p:sp>
        <p:nvSpPr>
          <p:cNvPr id="116" name="Google Shape;116;p2"/>
          <p:cNvSpPr/>
          <p:nvPr/>
        </p:nvSpPr>
        <p:spPr>
          <a:xfrm>
            <a:off x="581025" y="1000125"/>
            <a:ext cx="11029950" cy="1905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581025" y="1019175"/>
            <a:ext cx="76200" cy="2667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735925"/>
            <a:ext cx="2578900" cy="3445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98050" y="1735925"/>
            <a:ext cx="2578875" cy="3445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5050" y="1735925"/>
            <a:ext cx="2578900" cy="3445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32075" y="1735925"/>
            <a:ext cx="2578900" cy="3445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46600" y="2105025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3"/>
          <p:cNvSpPr txBox="1"/>
          <p:nvPr/>
        </p:nvSpPr>
        <p:spPr>
          <a:xfrm>
            <a:off x="819150" y="3476625"/>
            <a:ext cx="2207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Dedicated NPUs</a:t>
            </a:r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819150" y="3819525"/>
            <a:ext cx="2102643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Neural Processing Units handle billion-parameter AI models locally with minimal power draw.</a:t>
            </a:r>
            <a:endParaRPr/>
          </a:p>
        </p:txBody>
      </p:sp>
      <p:pic>
        <p:nvPicPr>
          <p:cNvPr descr="image.png" id="130" name="Google Shape;130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163612" y="2105025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"/>
          <p:cNvSpPr txBox="1"/>
          <p:nvPr/>
        </p:nvSpPr>
        <p:spPr>
          <a:xfrm>
            <a:off x="3636168" y="3476625"/>
            <a:ext cx="2207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Flexible Displays</a:t>
            </a:r>
            <a:endParaRPr/>
          </a:p>
        </p:txBody>
      </p:sp>
      <p:sp>
        <p:nvSpPr>
          <p:cNvPr id="132" name="Google Shape;132;p3"/>
          <p:cNvSpPr txBox="1"/>
          <p:nvPr/>
        </p:nvSpPr>
        <p:spPr>
          <a:xfrm>
            <a:off x="3636168" y="3819525"/>
            <a:ext cx="2102643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Foldable, rollable OLEDs with variable 1-144Hz refresh rates and integrated under-screen sensors.</a:t>
            </a:r>
            <a:endParaRPr/>
          </a:p>
        </p:txBody>
      </p:sp>
      <p:pic>
        <p:nvPicPr>
          <p:cNvPr descr="image.png" id="133" name="Google Shape;133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980626" y="2105025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3"/>
          <p:cNvSpPr txBox="1"/>
          <p:nvPr/>
        </p:nvSpPr>
        <p:spPr>
          <a:xfrm>
            <a:off x="6453187" y="3476625"/>
            <a:ext cx="2207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Solid-State Batteries</a:t>
            </a:r>
            <a:endParaRPr/>
          </a:p>
        </p:txBody>
      </p:sp>
      <p:sp>
        <p:nvSpPr>
          <p:cNvPr id="135" name="Google Shape;135;p3"/>
          <p:cNvSpPr txBox="1"/>
          <p:nvPr/>
        </p:nvSpPr>
        <p:spPr>
          <a:xfrm>
            <a:off x="6453187" y="4048125"/>
            <a:ext cx="2102643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Silicon-anode and fast-charging tech offering multi-day endurance and enhanced thermal safety.</a:t>
            </a:r>
            <a:endParaRPr/>
          </a:p>
        </p:txBody>
      </p:sp>
      <p:pic>
        <p:nvPicPr>
          <p:cNvPr descr="image.png" id="136" name="Google Shape;136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850206" y="2105013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"/>
          <p:cNvSpPr txBox="1"/>
          <p:nvPr/>
        </p:nvSpPr>
        <p:spPr>
          <a:xfrm>
            <a:off x="9270206" y="3476625"/>
            <a:ext cx="2207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Computational Sensors</a:t>
            </a:r>
            <a:endParaRPr/>
          </a:p>
        </p:txBody>
      </p:sp>
      <p:sp>
        <p:nvSpPr>
          <p:cNvPr id="138" name="Google Shape;138;p3"/>
          <p:cNvSpPr txBox="1"/>
          <p:nvPr/>
        </p:nvSpPr>
        <p:spPr>
          <a:xfrm>
            <a:off x="9270206" y="4048125"/>
            <a:ext cx="2102643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Multi-spectral camera modules with real-time AI depth mapping and pixel binning.</a:t>
            </a:r>
            <a:endParaRPr/>
          </a:p>
        </p:txBody>
      </p:sp>
      <p:pic>
        <p:nvPicPr>
          <p:cNvPr descr="image.png" id="139" name="Google Shape;139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503763" y="2262187"/>
            <a:ext cx="733425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373350" y="2262175"/>
            <a:ext cx="733425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190350" y="2262175"/>
            <a:ext cx="733425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007338" y="2262188"/>
            <a:ext cx="733425" cy="7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3"/>
          <p:cNvSpPr txBox="1"/>
          <p:nvPr/>
        </p:nvSpPr>
        <p:spPr>
          <a:xfrm>
            <a:off x="581025" y="485775"/>
            <a:ext cx="11581447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NEXT-GEN HARDWARE PILLARS</a:t>
            </a:r>
            <a:endParaRPr/>
          </a:p>
        </p:txBody>
      </p:sp>
      <p:sp>
        <p:nvSpPr>
          <p:cNvPr id="144" name="Google Shape;144;p3"/>
          <p:cNvSpPr/>
          <p:nvPr/>
        </p:nvSpPr>
        <p:spPr>
          <a:xfrm>
            <a:off x="581025" y="1000125"/>
            <a:ext cx="11029950" cy="1905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581025" y="1019175"/>
            <a:ext cx="76200" cy="2667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4"/>
          <p:cNvSpPr txBox="1"/>
          <p:nvPr/>
        </p:nvSpPr>
        <p:spPr>
          <a:xfrm>
            <a:off x="581025" y="485775"/>
            <a:ext cx="5590698" cy="819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ADVANCED MOBILE PROCESSORS</a:t>
            </a: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581025" y="1400175"/>
            <a:ext cx="5324475" cy="1905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3" name="Google Shape;15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9525"/>
            <a:ext cx="58959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4"/>
          <p:cNvSpPr/>
          <p:nvPr/>
        </p:nvSpPr>
        <p:spPr>
          <a:xfrm>
            <a:off x="581025" y="1419225"/>
            <a:ext cx="59233" cy="2667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581025" y="1704975"/>
            <a:ext cx="559069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The Silicon Architecture</a:t>
            </a:r>
            <a:endParaRPr/>
          </a:p>
        </p:txBody>
      </p:sp>
      <p:sp>
        <p:nvSpPr>
          <p:cNvPr id="156" name="Google Shape;156;p4"/>
          <p:cNvSpPr txBox="1"/>
          <p:nvPr/>
        </p:nvSpPr>
        <p:spPr>
          <a:xfrm>
            <a:off x="581025" y="2133600"/>
            <a:ext cx="5324475" cy="776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Modern System-on-Chips (SoCs) integrate multi-core CPUs, high-throughput GPUs, and specialized NPUs manufactured on 3nm/2nm process nodes.</a:t>
            </a:r>
            <a:endParaRPr/>
          </a:p>
        </p:txBody>
      </p:sp>
      <p:sp>
        <p:nvSpPr>
          <p:cNvPr id="157" name="Google Shape;157;p4"/>
          <p:cNvSpPr txBox="1"/>
          <p:nvPr/>
        </p:nvSpPr>
        <p:spPr>
          <a:xfrm>
            <a:off x="581025" y="3081932"/>
            <a:ext cx="5324475" cy="776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Key Advantages:</a:t>
            </a: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Enables instant offline language translation, real-time video generative effects, zero-latency biometrics, and 40% greater power efficiency.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62687" y="2028825"/>
            <a:ext cx="5348287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5"/>
          <p:cNvSpPr txBox="1"/>
          <p:nvPr/>
        </p:nvSpPr>
        <p:spPr>
          <a:xfrm>
            <a:off x="581025" y="2028825"/>
            <a:ext cx="5348287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user-facing hardware of future smartphones focuses on </a:t>
            </a:r>
            <a:r>
              <a:rPr b="0" i="0" lang="en-US" sz="1275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immersive visual fidelity</a:t>
            </a: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and intelligent environmental perception.</a:t>
            </a:r>
            <a:endParaRPr/>
          </a:p>
        </p:txBody>
      </p:sp>
      <p:sp>
        <p:nvSpPr>
          <p:cNvPr id="165" name="Google Shape;165;p5"/>
          <p:cNvSpPr txBox="1"/>
          <p:nvPr/>
        </p:nvSpPr>
        <p:spPr>
          <a:xfrm>
            <a:off x="581025" y="2737246"/>
            <a:ext cx="5348287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Flexible OLED/Micro-LED:</a:t>
            </a: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Crease-free foldable and expandable rollable form factors.</a:t>
            </a:r>
            <a:endParaRPr/>
          </a:p>
        </p:txBody>
      </p:sp>
      <p:sp>
        <p:nvSpPr>
          <p:cNvPr id="166" name="Google Shape;166;p5"/>
          <p:cNvSpPr txBox="1"/>
          <p:nvPr/>
        </p:nvSpPr>
        <p:spPr>
          <a:xfrm>
            <a:off x="581025" y="3407568"/>
            <a:ext cx="5348287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Computational Photography:</a:t>
            </a: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AI multi-frame synthesis overrides optical limits.</a:t>
            </a:r>
            <a:endParaRPr/>
          </a:p>
        </p:txBody>
      </p:sp>
      <p:sp>
        <p:nvSpPr>
          <p:cNvPr id="167" name="Google Shape;167;p5"/>
          <p:cNvSpPr txBox="1"/>
          <p:nvPr/>
        </p:nvSpPr>
        <p:spPr>
          <a:xfrm>
            <a:off x="581025" y="4077890"/>
            <a:ext cx="5348287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622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3D LiDAR &amp; Biometrics:</a:t>
            </a: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Sub-millimeter spatial mapping for AR and secure authentication.</a:t>
            </a:r>
            <a:endParaRPr/>
          </a:p>
        </p:txBody>
      </p:sp>
      <p:pic>
        <p:nvPicPr>
          <p:cNvPr descr="image.png" id="168" name="Google Shape;16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72212" y="2038350"/>
            <a:ext cx="5329237" cy="3600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2775346"/>
            <a:ext cx="12382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115990"/>
            <a:ext cx="180975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5"/>
          <p:cNvSpPr txBox="1"/>
          <p:nvPr/>
        </p:nvSpPr>
        <p:spPr>
          <a:xfrm>
            <a:off x="581025" y="485775"/>
            <a:ext cx="11581447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DISPLAYS, CAMERAS &amp; SENSORS</a:t>
            </a:r>
            <a:endParaRPr/>
          </a:p>
        </p:txBody>
      </p:sp>
      <p:sp>
        <p:nvSpPr>
          <p:cNvPr id="172" name="Google Shape;172;p5"/>
          <p:cNvSpPr/>
          <p:nvPr/>
        </p:nvSpPr>
        <p:spPr>
          <a:xfrm>
            <a:off x="581025" y="1000125"/>
            <a:ext cx="11029950" cy="1905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581025" y="1019175"/>
            <a:ext cx="76200" cy="2667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602706"/>
            <a:ext cx="3517850" cy="24717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7000" y="2602706"/>
            <a:ext cx="3517850" cy="24717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2975" y="2602706"/>
            <a:ext cx="3517850" cy="24717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" y="2878931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6"/>
          <p:cNvSpPr txBox="1"/>
          <p:nvPr/>
        </p:nvSpPr>
        <p:spPr>
          <a:xfrm>
            <a:off x="819150" y="3583781"/>
            <a:ext cx="319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AI-Centric Operating Systems</a:t>
            </a:r>
            <a:endParaRPr/>
          </a:p>
        </p:txBody>
      </p:sp>
      <p:sp>
        <p:nvSpPr>
          <p:cNvPr id="184" name="Google Shape;184;p6"/>
          <p:cNvSpPr txBox="1"/>
          <p:nvPr/>
        </p:nvSpPr>
        <p:spPr>
          <a:xfrm>
            <a:off x="819150" y="4155281"/>
            <a:ext cx="304160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OS architectures designed around proactive AI agents rather than passive grid-of-icons interfaces.</a:t>
            </a:r>
            <a:endParaRPr/>
          </a:p>
        </p:txBody>
      </p:sp>
      <p:pic>
        <p:nvPicPr>
          <p:cNvPr descr="image.png" id="185" name="Google Shape;18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5125" y="2878931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6"/>
          <p:cNvSpPr txBox="1"/>
          <p:nvPr/>
        </p:nvSpPr>
        <p:spPr>
          <a:xfrm>
            <a:off x="4575125" y="3583781"/>
            <a:ext cx="3193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Zero-Trust Security</a:t>
            </a:r>
            <a:endParaRPr/>
          </a:p>
        </p:txBody>
      </p:sp>
      <p:sp>
        <p:nvSpPr>
          <p:cNvPr id="187" name="Google Shape;187;p6"/>
          <p:cNvSpPr txBox="1"/>
          <p:nvPr/>
        </p:nvSpPr>
        <p:spPr>
          <a:xfrm>
            <a:off x="4575125" y="3926681"/>
            <a:ext cx="304160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On-device biometric encryption keys and confidential computing enclaves to safeguard personal data.</a:t>
            </a:r>
            <a:endParaRPr/>
          </a:p>
        </p:txBody>
      </p:sp>
      <p:pic>
        <p:nvPicPr>
          <p:cNvPr descr="image.png" id="188" name="Google Shape;188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31100" y="2878931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6"/>
          <p:cNvSpPr txBox="1"/>
          <p:nvPr/>
        </p:nvSpPr>
        <p:spPr>
          <a:xfrm>
            <a:off x="8331100" y="3583781"/>
            <a:ext cx="3193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Cross-Device Continuity</a:t>
            </a:r>
            <a:endParaRPr/>
          </a:p>
        </p:txBody>
      </p:sp>
      <p:sp>
        <p:nvSpPr>
          <p:cNvPr id="190" name="Google Shape;190;p6"/>
          <p:cNvSpPr txBox="1"/>
          <p:nvPr/>
        </p:nvSpPr>
        <p:spPr>
          <a:xfrm>
            <a:off x="8331100" y="3926681"/>
            <a:ext cx="304160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Instant unified memory sync across smartphones, smart glasses, laptops, and automotive dashboards.</a:t>
            </a:r>
            <a:endParaRPr/>
          </a:p>
        </p:txBody>
      </p:sp>
      <p:pic>
        <p:nvPicPr>
          <p:cNvPr descr="image.png" id="191" name="Google Shape;19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8675" y="2783681"/>
            <a:ext cx="49530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08475" y="3012281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31113" y="3012281"/>
            <a:ext cx="3143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19162" y="2917031"/>
            <a:ext cx="3143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6"/>
          <p:cNvSpPr txBox="1"/>
          <p:nvPr/>
        </p:nvSpPr>
        <p:spPr>
          <a:xfrm>
            <a:off x="581025" y="485775"/>
            <a:ext cx="11581447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FUTURE MOBILE SOFTWARE ECOSYSTEMS</a:t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581025" y="1000125"/>
            <a:ext cx="11029950" cy="1905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581025" y="1019175"/>
            <a:ext cx="76200" cy="2667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7"/>
          <p:cNvSpPr txBox="1"/>
          <p:nvPr/>
        </p:nvSpPr>
        <p:spPr>
          <a:xfrm>
            <a:off x="581025" y="485775"/>
            <a:ext cx="5590698" cy="819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5G ADVANCED &amp; 6G NETWORKS</a:t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581025" y="1400175"/>
            <a:ext cx="5324475" cy="1905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5" name="Google Shape;20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9525"/>
            <a:ext cx="58959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7"/>
          <p:cNvSpPr/>
          <p:nvPr/>
        </p:nvSpPr>
        <p:spPr>
          <a:xfrm>
            <a:off x="581025" y="1419225"/>
            <a:ext cx="61912" cy="2667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 txBox="1"/>
          <p:nvPr/>
        </p:nvSpPr>
        <p:spPr>
          <a:xfrm>
            <a:off x="581025" y="1704975"/>
            <a:ext cx="559069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Hyper-Connected Future</a:t>
            </a:r>
            <a:endParaRPr/>
          </a:p>
        </p:txBody>
      </p:sp>
      <p:sp>
        <p:nvSpPr>
          <p:cNvPr id="208" name="Google Shape;208;p7"/>
          <p:cNvSpPr txBox="1"/>
          <p:nvPr/>
        </p:nvSpPr>
        <p:spPr>
          <a:xfrm>
            <a:off x="581025" y="2133600"/>
            <a:ext cx="5324475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Next-gen connectivity bridges physical and digital spaces via sub-millisecond latencies and terabit-per-second throughput.</a:t>
            </a:r>
            <a:endParaRPr/>
          </a:p>
        </p:txBody>
      </p:sp>
      <p:sp>
        <p:nvSpPr>
          <p:cNvPr id="209" name="Google Shape;209;p7"/>
          <p:cNvSpPr txBox="1"/>
          <p:nvPr/>
        </p:nvSpPr>
        <p:spPr>
          <a:xfrm>
            <a:off x="581025" y="2822971"/>
            <a:ext cx="53244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084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Key Capabilities:</a:t>
            </a: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Direct-to-cell satellite coverage in remote zones, Integrated Sensing and Communication (ISAC), and AI-native radio frequencies.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4" name="Google Shape;21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187130"/>
            <a:ext cx="1102995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491930"/>
            <a:ext cx="2536775" cy="9274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12033" y="2992933"/>
            <a:ext cx="2536775" cy="9274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43042" y="4491930"/>
            <a:ext cx="2536775" cy="9274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074050" y="2992933"/>
            <a:ext cx="2536775" cy="927496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8"/>
          <p:cNvSpPr txBox="1"/>
          <p:nvPr/>
        </p:nvSpPr>
        <p:spPr>
          <a:xfrm>
            <a:off x="687626" y="4653855"/>
            <a:ext cx="232357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1. Silicon Layer</a:t>
            </a:r>
            <a:endParaRPr/>
          </a:p>
        </p:txBody>
      </p:sp>
      <p:sp>
        <p:nvSpPr>
          <p:cNvPr id="221" name="Google Shape;221;p8"/>
          <p:cNvSpPr txBox="1"/>
          <p:nvPr/>
        </p:nvSpPr>
        <p:spPr>
          <a:xfrm>
            <a:off x="742950" y="4911030"/>
            <a:ext cx="2212925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SoC + NPU compute raw vector matrix operations.</a:t>
            </a:r>
            <a:endParaRPr/>
          </a:p>
        </p:txBody>
      </p:sp>
      <p:sp>
        <p:nvSpPr>
          <p:cNvPr id="222" name="Google Shape;222;p8"/>
          <p:cNvSpPr txBox="1"/>
          <p:nvPr/>
        </p:nvSpPr>
        <p:spPr>
          <a:xfrm>
            <a:off x="3518635" y="3154858"/>
            <a:ext cx="232357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2. On-Device OS</a:t>
            </a:r>
            <a:endParaRPr/>
          </a:p>
        </p:txBody>
      </p:sp>
      <p:sp>
        <p:nvSpPr>
          <p:cNvPr id="223" name="Google Shape;223;p8"/>
          <p:cNvSpPr txBox="1"/>
          <p:nvPr/>
        </p:nvSpPr>
        <p:spPr>
          <a:xfrm>
            <a:off x="3573958" y="3412033"/>
            <a:ext cx="2212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Local AI stack sche</a:t>
            </a: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</a:t>
            </a: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ules model inference.</a:t>
            </a:r>
            <a:endParaRPr/>
          </a:p>
        </p:txBody>
      </p:sp>
      <p:sp>
        <p:nvSpPr>
          <p:cNvPr id="224" name="Google Shape;224;p8"/>
          <p:cNvSpPr txBox="1"/>
          <p:nvPr/>
        </p:nvSpPr>
        <p:spPr>
          <a:xfrm>
            <a:off x="6349644" y="4653855"/>
            <a:ext cx="232357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3. Context Engine</a:t>
            </a:r>
            <a:endParaRPr/>
          </a:p>
        </p:txBody>
      </p:sp>
      <p:sp>
        <p:nvSpPr>
          <p:cNvPr id="225" name="Google Shape;225;p8"/>
          <p:cNvSpPr txBox="1"/>
          <p:nvPr/>
        </p:nvSpPr>
        <p:spPr>
          <a:xfrm>
            <a:off x="6404967" y="4911030"/>
            <a:ext cx="2212925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Sensors supply environmental context.</a:t>
            </a:r>
            <a:endParaRPr/>
          </a:p>
        </p:txBody>
      </p:sp>
      <p:sp>
        <p:nvSpPr>
          <p:cNvPr id="226" name="Google Shape;226;p8"/>
          <p:cNvSpPr txBox="1"/>
          <p:nvPr/>
        </p:nvSpPr>
        <p:spPr>
          <a:xfrm>
            <a:off x="9180652" y="3154858"/>
            <a:ext cx="232357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4. Adaptive UX</a:t>
            </a:r>
            <a:endParaRPr/>
          </a:p>
        </p:txBody>
      </p:sp>
      <p:sp>
        <p:nvSpPr>
          <p:cNvPr id="227" name="Google Shape;227;p8"/>
          <p:cNvSpPr txBox="1"/>
          <p:nvPr/>
        </p:nvSpPr>
        <p:spPr>
          <a:xfrm>
            <a:off x="9235975" y="3412033"/>
            <a:ext cx="2212925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Personalized automated assistant action.</a:t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1744637" y="4101405"/>
            <a:ext cx="209550" cy="20955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4575646" y="4101405"/>
            <a:ext cx="209550" cy="20955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7406654" y="4101405"/>
            <a:ext cx="209550" cy="20955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10237663" y="4101405"/>
            <a:ext cx="209550" cy="20955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 txBox="1"/>
          <p:nvPr/>
        </p:nvSpPr>
        <p:spPr>
          <a:xfrm>
            <a:off x="581025" y="485775"/>
            <a:ext cx="115815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HARDWARE &amp; SOFTWARE INTEGRATION</a:t>
            </a: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581025" y="1000125"/>
            <a:ext cx="11029950" cy="1905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581025" y="1019175"/>
            <a:ext cx="76200" cy="2667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9" name="Google Shape;23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0" name="Google Shape;240;p9"/>
          <p:cNvGraphicFramePr/>
          <p:nvPr/>
        </p:nvGraphicFramePr>
        <p:xfrm>
          <a:off x="581025" y="23773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{F8239976-4E17-4E09-BB92-AD7B213DDFC6}</a:tableStyleId>
              </a:tblPr>
              <a:tblGrid>
                <a:gridCol w="2752725"/>
                <a:gridCol w="4129075"/>
                <a:gridCol w="4129075"/>
              </a:tblGrid>
              <a:tr h="73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8BDF8"/>
                          </a:solidFill>
                          <a:latin typeface="Orbitron"/>
                          <a:ea typeface="Orbitron"/>
                          <a:cs typeface="Orbitron"/>
                          <a:sym typeface="Orbitron"/>
                        </a:rPr>
                        <a:t>Domain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8BDF8"/>
                          </a:solidFill>
                          <a:latin typeface="Orbitron"/>
                          <a:ea typeface="Orbitron"/>
                          <a:cs typeface="Orbitron"/>
                          <a:sym typeface="Orbitron"/>
                        </a:rPr>
                        <a:t> Key Benefits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43F5E"/>
                          </a:solidFill>
                          <a:latin typeface="Orbitron"/>
                          <a:ea typeface="Orbitron"/>
                          <a:cs typeface="Orbitron"/>
                          <a:sym typeface="Orbitron"/>
                        </a:rPr>
                        <a:t> Critical Challenges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73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Performance &amp; AI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Instant local AI execution, ultra-fast gaming, enhanced privacy.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 thermal throttling, chip production cost, model size limits.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73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Form Factor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Expandable screens, ultra-thin profiles, durable glass.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Mechanical wear in hinges, battery size constraints, e-waste.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73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Connectivity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Global satellite link, zero-lag streaming, instant cloud sync.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Infrastructure deployment costs, spectrum congestion, security risks.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241" name="Google Shape;241;p9"/>
          <p:cNvSpPr/>
          <p:nvPr/>
        </p:nvSpPr>
        <p:spPr>
          <a:xfrm>
            <a:off x="590550" y="2965995"/>
            <a:ext cx="2752725" cy="1905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3343275" y="2965995"/>
            <a:ext cx="4129087" cy="1905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7472362" y="2965995"/>
            <a:ext cx="4129087" cy="1905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590550" y="3747045"/>
            <a:ext cx="27527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3343275" y="3747045"/>
            <a:ext cx="412908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7472362" y="3747045"/>
            <a:ext cx="412908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590550" y="4518570"/>
            <a:ext cx="27527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3343275" y="4518570"/>
            <a:ext cx="412908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7472362" y="4518570"/>
            <a:ext cx="412908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0" name="Google Shape;25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76601" y="2578373"/>
            <a:ext cx="266672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05676" y="2578375"/>
            <a:ext cx="266675" cy="26667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9"/>
          <p:cNvSpPr txBox="1"/>
          <p:nvPr/>
        </p:nvSpPr>
        <p:spPr>
          <a:xfrm>
            <a:off x="581025" y="485775"/>
            <a:ext cx="11581447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BENEFITS VS. INDUSTRY CHALLENGES</a:t>
            </a: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581025" y="1000125"/>
            <a:ext cx="11029950" cy="1905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581025" y="1019175"/>
            <a:ext cx="76200" cy="2667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9" name="Google Shape;25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751064"/>
            <a:ext cx="8572500" cy="1241821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0"/>
          <p:cNvSpPr txBox="1"/>
          <p:nvPr/>
        </p:nvSpPr>
        <p:spPr>
          <a:xfrm>
            <a:off x="1595437" y="1865114"/>
            <a:ext cx="90011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CONCLUSION &amp; SUMMARY</a:t>
            </a:r>
            <a:endParaRPr/>
          </a:p>
        </p:txBody>
      </p:sp>
      <p:sp>
        <p:nvSpPr>
          <p:cNvPr id="262" name="Google Shape;262;p10"/>
          <p:cNvSpPr txBox="1"/>
          <p:nvPr/>
        </p:nvSpPr>
        <p:spPr>
          <a:xfrm>
            <a:off x="1809750" y="2598539"/>
            <a:ext cx="8572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Next-generation mobile hardware and software are converging to redefine the smartphone from a simple communications gadget into an adaptive, autonomous artificial intelligence companion.</a:t>
            </a:r>
            <a:endParaRPr/>
          </a:p>
        </p:txBody>
      </p:sp>
      <p:sp>
        <p:nvSpPr>
          <p:cNvPr id="263" name="Google Shape;263;p10"/>
          <p:cNvSpPr txBox="1"/>
          <p:nvPr/>
        </p:nvSpPr>
        <p:spPr>
          <a:xfrm>
            <a:off x="2133600" y="4036814"/>
            <a:ext cx="79629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Orbitron SemiBold"/>
                <a:ea typeface="Orbitron SemiBold"/>
                <a:cs typeface="Orbitron SemiBold"/>
                <a:sym typeface="Orbitron SemiBold"/>
              </a:rPr>
              <a:t>"The smartphone of the future will not simply be faster — it will be smarter, more connected, and more adaptive."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8" name="Google Shape;26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1"/>
          <p:cNvSpPr/>
          <p:nvPr/>
        </p:nvSpPr>
        <p:spPr>
          <a:xfrm>
            <a:off x="581025" y="2075705"/>
            <a:ext cx="1102995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581025" y="3058566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581025" y="3843337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581025" y="3049041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581025" y="3049041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581025" y="383381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581025" y="383381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581025" y="4618583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581025" y="4618583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8" name="Google Shape;27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2424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1"/>
          <p:cNvSpPr txBox="1"/>
          <p:nvPr/>
        </p:nvSpPr>
        <p:spPr>
          <a:xfrm>
            <a:off x="1676400" y="2218580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https://img.magnific.com/premium-photo/ai-chip-circuit-board-advanced-tech-with-glowing-lines-modern-tech-concept-digital-future_1303267-19442.jpg?semt=ais_hybrid&amp;w=740&amp;q=80</a:t>
            </a:r>
            <a:endParaRPr/>
          </a:p>
        </p:txBody>
      </p:sp>
      <p:sp>
        <p:nvSpPr>
          <p:cNvPr id="280" name="Google Shape;280;p11"/>
          <p:cNvSpPr txBox="1"/>
          <p:nvPr/>
        </p:nvSpPr>
        <p:spPr>
          <a:xfrm>
            <a:off x="1676400" y="2662386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www.magnific.com</a:t>
            </a:r>
            <a:endParaRPr/>
          </a:p>
        </p:txBody>
      </p:sp>
      <p:pic>
        <p:nvPicPr>
          <p:cNvPr descr="image.png" id="281" name="Google Shape;281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20799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1"/>
          <p:cNvSpPr txBox="1"/>
          <p:nvPr/>
        </p:nvSpPr>
        <p:spPr>
          <a:xfrm>
            <a:off x="1676400" y="3201441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https://www.bgr.com/img/gallery/7-of-the-best-foldable-phones-according-to-consumer-reports/intro-1783431304.jpg</a:t>
            </a:r>
            <a:endParaRPr/>
          </a:p>
        </p:txBody>
      </p:sp>
      <p:sp>
        <p:nvSpPr>
          <p:cNvPr id="283" name="Google Shape;283;p11"/>
          <p:cNvSpPr txBox="1"/>
          <p:nvPr/>
        </p:nvSpPr>
        <p:spPr>
          <a:xfrm>
            <a:off x="1676400" y="3447157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www.bgr.com</a:t>
            </a:r>
            <a:endParaRPr/>
          </a:p>
        </p:txBody>
      </p:sp>
      <p:pic>
        <p:nvPicPr>
          <p:cNvPr descr="image.png" id="284" name="Google Shape;284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99276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1"/>
          <p:cNvSpPr txBox="1"/>
          <p:nvPr/>
        </p:nvSpPr>
        <p:spPr>
          <a:xfrm>
            <a:off x="1676400" y="3986212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https://www.itu.int/hub/wp-content/uploads/sites/4/2026/03/6G-montage_AdobeStock.jpg.optimal.jpg</a:t>
            </a:r>
            <a:endParaRPr/>
          </a:p>
        </p:txBody>
      </p:sp>
      <p:sp>
        <p:nvSpPr>
          <p:cNvPr id="286" name="Google Shape;286;p11"/>
          <p:cNvSpPr txBox="1"/>
          <p:nvPr/>
        </p:nvSpPr>
        <p:spPr>
          <a:xfrm>
            <a:off x="1676400" y="4231927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www.itu.int</a:t>
            </a:r>
            <a:endParaRPr/>
          </a:p>
        </p:txBody>
      </p:sp>
      <p:pic>
        <p:nvPicPr>
          <p:cNvPr descr="image.png" id="287" name="Google Shape;287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87665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1"/>
          <p:cNvSpPr txBox="1"/>
          <p:nvPr/>
        </p:nvSpPr>
        <p:spPr>
          <a:xfrm>
            <a:off x="1676400" y="4770983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https://media.istockphoto.com/id/2178297785/vector/futuristic-neon-blue-light-smartphone-mockup-glowing-vector-illustration-with-violet-blue.jpg?s=612x612&amp;w=0&amp;k=20&amp;c=ZqXjlwFoEzYpdlwhppbmmn7-gWIGTlfEpDNvK11f-t0=</a:t>
            </a:r>
            <a:endParaRPr/>
          </a:p>
        </p:txBody>
      </p:sp>
      <p:sp>
        <p:nvSpPr>
          <p:cNvPr id="289" name="Google Shape;289;p11"/>
          <p:cNvSpPr txBox="1"/>
          <p:nvPr/>
        </p:nvSpPr>
        <p:spPr>
          <a:xfrm>
            <a:off x="1676400" y="5214788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www.istockphoto.com</a:t>
            </a:r>
            <a:endParaRPr/>
          </a:p>
        </p:txBody>
      </p:sp>
      <p:sp>
        <p:nvSpPr>
          <p:cNvPr id="290" name="Google Shape;290;p11"/>
          <p:cNvSpPr txBox="1"/>
          <p:nvPr/>
        </p:nvSpPr>
        <p:spPr>
          <a:xfrm>
            <a:off x="581025" y="485775"/>
            <a:ext cx="11581447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IMAGE SOURCES</a:t>
            </a:r>
            <a:endParaRPr/>
          </a:p>
        </p:txBody>
      </p:sp>
      <p:sp>
        <p:nvSpPr>
          <p:cNvPr id="291" name="Google Shape;291;p11"/>
          <p:cNvSpPr/>
          <p:nvPr/>
        </p:nvSpPr>
        <p:spPr>
          <a:xfrm>
            <a:off x="581025" y="1000125"/>
            <a:ext cx="11029950" cy="1905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581025" y="1019175"/>
            <a:ext cx="76200" cy="2667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